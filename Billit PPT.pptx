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5" roundtripDataSignature="AMtx7mgW1POsPygM/T72yjNcrSKFXrWf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3" name="Google Shape;23;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5" name="Google Shape;35;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8" name="Google Shape;48;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9" name="Google Shape;49;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0" name="Google Shape;50;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descr="$PPTXTitle" id="84" name="Google Shape;84;p1"/>
          <p:cNvSpPr txBox="1"/>
          <p:nvPr/>
        </p:nvSpPr>
        <p:spPr>
          <a:xfrm>
            <a:off x="939800" y="3935095"/>
            <a:ext cx="14666976" cy="820738"/>
          </a:xfrm>
          <a:prstGeom prst="rect">
            <a:avLst/>
          </a:prstGeom>
          <a:noFill/>
          <a:ln>
            <a:noFill/>
          </a:ln>
        </p:spPr>
        <p:txBody>
          <a:bodyPr anchorCtr="0" anchor="t" bIns="0" lIns="0" spcFirstLastPara="1" rIns="0" wrap="square" tIns="0">
            <a:spAutoFit/>
          </a:bodyPr>
          <a:lstStyle/>
          <a:p>
            <a:pPr indent="0" lvl="0" marL="0" marR="0" rtl="0" algn="l">
              <a:lnSpc>
                <a:spcPct val="119981"/>
              </a:lnSpc>
              <a:spcBef>
                <a:spcPts val="0"/>
              </a:spcBef>
              <a:spcAft>
                <a:spcPts val="0"/>
              </a:spcAft>
              <a:buNone/>
            </a:pPr>
            <a:r>
              <a:rPr b="1" i="0" lang="en-US" sz="5360" u="none" cap="none" strike="noStrike">
                <a:solidFill>
                  <a:srgbClr val="9B5360"/>
                </a:solidFill>
                <a:latin typeface="Calibri"/>
                <a:ea typeface="Calibri"/>
                <a:cs typeface="Calibri"/>
                <a:sym typeface="Calibri"/>
              </a:rPr>
              <a:t>Billit: Easy &amp; Quick Billing at Your Fingertips</a:t>
            </a:r>
            <a:endParaRPr/>
          </a:p>
        </p:txBody>
      </p:sp>
      <p:sp>
        <p:nvSpPr>
          <p:cNvPr id="85" name="Google Shape;85;p1"/>
          <p:cNvSpPr txBox="1"/>
          <p:nvPr/>
        </p:nvSpPr>
        <p:spPr>
          <a:xfrm>
            <a:off x="1028700" y="5987269"/>
            <a:ext cx="15985744" cy="897682"/>
          </a:xfrm>
          <a:prstGeom prst="rect">
            <a:avLst/>
          </a:prstGeom>
          <a:noFill/>
          <a:ln>
            <a:noFill/>
          </a:ln>
        </p:spPr>
        <p:txBody>
          <a:bodyPr anchorCtr="0" anchor="t" bIns="0" lIns="0" spcFirstLastPara="1" rIns="0" wrap="square" tIns="0">
            <a:spAutoFit/>
          </a:bodyPr>
          <a:lstStyle/>
          <a:p>
            <a:pPr indent="0" lvl="0" marL="0" marR="0" rtl="0" algn="l">
              <a:lnSpc>
                <a:spcPct val="108781"/>
              </a:lnSpc>
              <a:spcBef>
                <a:spcPts val="0"/>
              </a:spcBef>
              <a:spcAft>
                <a:spcPts val="0"/>
              </a:spcAft>
              <a:buNone/>
            </a:pPr>
            <a:r>
              <a:rPr b="1" i="0" lang="en-US" sz="3200" u="none" cap="none" strike="noStrike">
                <a:solidFill>
                  <a:srgbClr val="4A4A4A"/>
                </a:solidFill>
                <a:latin typeface="Calibri"/>
                <a:ea typeface="Calibri"/>
                <a:cs typeface="Calibri"/>
                <a:sym typeface="Calibri"/>
              </a:rPr>
              <a:t>Presenting Billit, the Python-based billing software that has been painstakingly designed for dependability, speed, and an incredibly user-friendly interface.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descr="$PPTXTitle" id="90" name="Google Shape;90;p2"/>
          <p:cNvSpPr txBox="1"/>
          <p:nvPr/>
        </p:nvSpPr>
        <p:spPr>
          <a:xfrm>
            <a:off x="939800" y="1052830"/>
            <a:ext cx="15306040" cy="1641475"/>
          </a:xfrm>
          <a:prstGeom prst="rect">
            <a:avLst/>
          </a:prstGeom>
          <a:noFill/>
          <a:ln>
            <a:noFill/>
          </a:ln>
        </p:spPr>
        <p:txBody>
          <a:bodyPr anchorCtr="0" anchor="t" bIns="0" lIns="0" spcFirstLastPara="1" rIns="0" wrap="square" tIns="0">
            <a:spAutoFit/>
          </a:bodyPr>
          <a:lstStyle/>
          <a:p>
            <a:pPr indent="0" lvl="0" marL="0" marR="0" rtl="0" algn="l">
              <a:lnSpc>
                <a:spcPct val="119981"/>
              </a:lnSpc>
              <a:spcBef>
                <a:spcPts val="0"/>
              </a:spcBef>
              <a:spcAft>
                <a:spcPts val="0"/>
              </a:spcAft>
              <a:buNone/>
            </a:pPr>
            <a:r>
              <a:rPr b="1" i="0" lang="en-US" sz="5360" u="none" cap="none" strike="noStrike">
                <a:solidFill>
                  <a:srgbClr val="9B5360"/>
                </a:solidFill>
                <a:latin typeface="Calibri"/>
                <a:ea typeface="Calibri"/>
                <a:cs typeface="Calibri"/>
                <a:sym typeface="Calibri"/>
              </a:rPr>
              <a:t>What Makes Billit the Best Option? The Perfected Productivity</a:t>
            </a:r>
            <a:endParaRPr/>
          </a:p>
        </p:txBody>
      </p:sp>
      <p:sp>
        <p:nvSpPr>
          <p:cNvPr id="91" name="Google Shape;91;p2"/>
          <p:cNvSpPr txBox="1"/>
          <p:nvPr/>
        </p:nvSpPr>
        <p:spPr>
          <a:xfrm>
            <a:off x="939800" y="2751454"/>
            <a:ext cx="14239240" cy="162826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640" u="none" cap="none" strike="noStrike">
                <a:solidFill>
                  <a:srgbClr val="9B5360"/>
                </a:solidFill>
                <a:latin typeface="Calibri"/>
                <a:ea typeface="Calibri"/>
                <a:cs typeface="Calibri"/>
                <a:sym typeface="Calibri"/>
              </a:rPr>
              <a:t>Conserve Time and Effort</a:t>
            </a:r>
            <a:endParaRPr/>
          </a:p>
          <a:p>
            <a:pPr indent="0" lvl="0" marL="0" marR="0" rtl="0" algn="l">
              <a:lnSpc>
                <a:spcPct val="120000"/>
              </a:lnSpc>
              <a:spcBef>
                <a:spcPts val="0"/>
              </a:spcBef>
              <a:spcAft>
                <a:spcPts val="0"/>
              </a:spcAft>
              <a:buNone/>
            </a:pPr>
            <a:r>
              <a:t/>
            </a:r>
            <a:endParaRPr b="1" i="0" sz="2640" u="none" cap="none" strike="noStrike">
              <a:solidFill>
                <a:srgbClr val="9B5360"/>
              </a:solidFill>
              <a:latin typeface="Calibri"/>
              <a:ea typeface="Calibri"/>
              <a:cs typeface="Calibri"/>
              <a:sym typeface="Calibri"/>
            </a:endParaRPr>
          </a:p>
          <a:p>
            <a:pPr indent="0" lvl="0" marL="0" marR="0" rtl="0" algn="l">
              <a:lnSpc>
                <a:spcPct val="120000"/>
              </a:lnSpc>
              <a:spcBef>
                <a:spcPts val="0"/>
              </a:spcBef>
              <a:spcAft>
                <a:spcPts val="0"/>
              </a:spcAft>
              <a:buNone/>
            </a:pPr>
            <a:r>
              <a:rPr b="1" i="0" lang="en-US" sz="2640" u="none" cap="none" strike="noStrike">
                <a:solidFill>
                  <a:schemeClr val="dk1"/>
                </a:solidFill>
                <a:latin typeface="Calibri"/>
                <a:ea typeface="Calibri"/>
                <a:cs typeface="Calibri"/>
                <a:sym typeface="Calibri"/>
              </a:rPr>
              <a:t>Created especially to save you time and get rid of the trouble that comes with complicated financial software</a:t>
            </a:r>
            <a:r>
              <a:rPr b="1" i="0" lang="en-US" sz="2640" u="none" cap="none" strike="noStrike">
                <a:solidFill>
                  <a:srgbClr val="9B5360"/>
                </a:solidFill>
                <a:latin typeface="Calibri"/>
                <a:ea typeface="Calibri"/>
                <a:cs typeface="Calibri"/>
                <a:sym typeface="Calibri"/>
              </a:rPr>
              <a:t>.</a:t>
            </a:r>
            <a:endParaRPr b="0" i="0" sz="2160" u="none" cap="none" strike="noStrike">
              <a:solidFill>
                <a:srgbClr val="4A4A4A"/>
              </a:solidFill>
              <a:latin typeface="Calibri"/>
              <a:ea typeface="Calibri"/>
              <a:cs typeface="Calibri"/>
              <a:sym typeface="Calibri"/>
            </a:endParaRPr>
          </a:p>
        </p:txBody>
      </p:sp>
      <p:sp>
        <p:nvSpPr>
          <p:cNvPr id="92" name="Google Shape;92;p2"/>
          <p:cNvSpPr txBox="1"/>
          <p:nvPr/>
        </p:nvSpPr>
        <p:spPr>
          <a:xfrm>
            <a:off x="939800" y="5144134"/>
            <a:ext cx="13975080" cy="162826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640" u="none" cap="none" strike="noStrike">
                <a:solidFill>
                  <a:srgbClr val="9B5360"/>
                </a:solidFill>
                <a:latin typeface="Calibri"/>
                <a:ea typeface="Calibri"/>
                <a:cs typeface="Calibri"/>
                <a:sym typeface="Calibri"/>
              </a:rPr>
              <a:t>A User-Friendly Interface</a:t>
            </a:r>
            <a:endParaRPr/>
          </a:p>
          <a:p>
            <a:pPr indent="0" lvl="0" marL="0" marR="0" rtl="0" algn="l">
              <a:lnSpc>
                <a:spcPct val="120000"/>
              </a:lnSpc>
              <a:spcBef>
                <a:spcPts val="0"/>
              </a:spcBef>
              <a:spcAft>
                <a:spcPts val="0"/>
              </a:spcAft>
              <a:buNone/>
            </a:pPr>
            <a:r>
              <a:t/>
            </a:r>
            <a:endParaRPr b="1" i="0" sz="2640" u="none" cap="none" strike="noStrike">
              <a:solidFill>
                <a:srgbClr val="9B5360"/>
              </a:solidFill>
              <a:latin typeface="Calibri"/>
              <a:ea typeface="Calibri"/>
              <a:cs typeface="Calibri"/>
              <a:sym typeface="Calibri"/>
            </a:endParaRPr>
          </a:p>
          <a:p>
            <a:pPr indent="0" lvl="0" marL="0" marR="0" rtl="0" algn="l">
              <a:lnSpc>
                <a:spcPct val="120000"/>
              </a:lnSpc>
              <a:spcBef>
                <a:spcPts val="0"/>
              </a:spcBef>
              <a:spcAft>
                <a:spcPts val="0"/>
              </a:spcAft>
              <a:buNone/>
            </a:pPr>
            <a:r>
              <a:rPr b="1" i="0" lang="en-US" sz="2640" u="none" cap="none" strike="noStrike">
                <a:solidFill>
                  <a:schemeClr val="dk1"/>
                </a:solidFill>
                <a:latin typeface="Calibri"/>
                <a:ea typeface="Calibri"/>
                <a:cs typeface="Calibri"/>
                <a:sym typeface="Calibri"/>
              </a:rPr>
              <a:t>A simple interface that anyone can learn in a matter of minutes, guaranteeing instant productivity and no learning curve</a:t>
            </a:r>
            <a:r>
              <a:rPr b="1" i="0" lang="en-US" sz="2640" u="none" cap="none" strike="noStrike">
                <a:solidFill>
                  <a:srgbClr val="9B5360"/>
                </a:solidFill>
                <a:latin typeface="Calibri"/>
                <a:ea typeface="Calibri"/>
                <a:cs typeface="Calibri"/>
                <a:sym typeface="Calibri"/>
              </a:rPr>
              <a:t>.</a:t>
            </a:r>
            <a:endParaRPr b="0" i="0" sz="2160" u="none" cap="none" strike="noStrike">
              <a:solidFill>
                <a:srgbClr val="4A4A4A"/>
              </a:solidFill>
              <a:latin typeface="Calibri"/>
              <a:ea typeface="Calibri"/>
              <a:cs typeface="Calibri"/>
              <a:sym typeface="Calibri"/>
            </a:endParaRPr>
          </a:p>
        </p:txBody>
      </p:sp>
      <p:sp>
        <p:nvSpPr>
          <p:cNvPr id="93" name="Google Shape;93;p2"/>
          <p:cNvSpPr txBox="1"/>
          <p:nvPr/>
        </p:nvSpPr>
        <p:spPr>
          <a:xfrm>
            <a:off x="939800" y="7582534"/>
            <a:ext cx="11873992" cy="162826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640" u="none" cap="none" strike="noStrike">
                <a:solidFill>
                  <a:srgbClr val="9B5360"/>
                </a:solidFill>
                <a:latin typeface="Calibri"/>
                <a:ea typeface="Calibri"/>
                <a:cs typeface="Calibri"/>
                <a:sym typeface="Calibri"/>
              </a:rPr>
              <a:t>Reliability and Speed</a:t>
            </a:r>
            <a:endParaRPr/>
          </a:p>
          <a:p>
            <a:pPr indent="0" lvl="0" marL="0" marR="0" rtl="0" algn="l">
              <a:lnSpc>
                <a:spcPct val="120000"/>
              </a:lnSpc>
              <a:spcBef>
                <a:spcPts val="0"/>
              </a:spcBef>
              <a:spcAft>
                <a:spcPts val="0"/>
              </a:spcAft>
              <a:buNone/>
            </a:pPr>
            <a:r>
              <a:t/>
            </a:r>
            <a:endParaRPr b="1" i="0" sz="2640" u="none" cap="none" strike="noStrike">
              <a:solidFill>
                <a:srgbClr val="9B5360"/>
              </a:solidFill>
              <a:latin typeface="Calibri"/>
              <a:ea typeface="Calibri"/>
              <a:cs typeface="Calibri"/>
              <a:sym typeface="Calibri"/>
            </a:endParaRPr>
          </a:p>
          <a:p>
            <a:pPr indent="0" lvl="0" marL="0" marR="0" rtl="0" algn="l">
              <a:lnSpc>
                <a:spcPct val="120000"/>
              </a:lnSpc>
              <a:spcBef>
                <a:spcPts val="0"/>
              </a:spcBef>
              <a:spcAft>
                <a:spcPts val="0"/>
              </a:spcAft>
              <a:buNone/>
            </a:pPr>
            <a:r>
              <a:rPr b="1" i="0" lang="en-US" sz="2640" u="none" cap="none" strike="noStrike">
                <a:solidFill>
                  <a:schemeClr val="dk1"/>
                </a:solidFill>
                <a:latin typeface="Calibri"/>
                <a:ea typeface="Calibri"/>
                <a:cs typeface="Calibri"/>
                <a:sym typeface="Calibri"/>
              </a:rPr>
              <a:t>Python was used throughout, ensuring outstanding speed, stability, and dependable operation</a:t>
            </a:r>
            <a:r>
              <a:rPr b="1" i="0" lang="en-US" sz="2640" u="none" cap="none" strike="noStrike">
                <a:solidFill>
                  <a:srgbClr val="9B5360"/>
                </a:solidFill>
                <a:latin typeface="Calibri"/>
                <a:ea typeface="Calibri"/>
                <a:cs typeface="Calibri"/>
                <a:sym typeface="Calibri"/>
              </a:rPr>
              <a:t>.</a:t>
            </a:r>
            <a:endParaRPr b="0" i="0" sz="2160" u="none" cap="none" strike="noStrike">
              <a:solidFill>
                <a:srgbClr val="4A4A4A"/>
              </a:solidFill>
              <a:latin typeface="Calibri"/>
              <a:ea typeface="Calibri"/>
              <a:cs typeface="Calibri"/>
              <a:sym typeface="Calibri"/>
            </a:endParaRPr>
          </a:p>
        </p:txBody>
      </p:sp>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descr="$PPTXTitle" id="98" name="Google Shape;98;p3"/>
          <p:cNvSpPr txBox="1"/>
          <p:nvPr/>
        </p:nvSpPr>
        <p:spPr>
          <a:xfrm>
            <a:off x="939800" y="1024255"/>
            <a:ext cx="15306040" cy="1641475"/>
          </a:xfrm>
          <a:prstGeom prst="rect">
            <a:avLst/>
          </a:prstGeom>
          <a:noFill/>
          <a:ln>
            <a:noFill/>
          </a:ln>
        </p:spPr>
        <p:txBody>
          <a:bodyPr anchorCtr="0" anchor="t" bIns="0" lIns="0" spcFirstLastPara="1" rIns="0" wrap="square" tIns="0">
            <a:spAutoFit/>
          </a:bodyPr>
          <a:lstStyle/>
          <a:p>
            <a:pPr indent="0" lvl="0" marL="0" marR="0" rtl="0" algn="l">
              <a:lnSpc>
                <a:spcPct val="119981"/>
              </a:lnSpc>
              <a:spcBef>
                <a:spcPts val="0"/>
              </a:spcBef>
              <a:spcAft>
                <a:spcPts val="0"/>
              </a:spcAft>
              <a:buNone/>
            </a:pPr>
            <a:r>
              <a:rPr b="1" i="0" lang="en-US" sz="5360" u="none" cap="none" strike="noStrike">
                <a:solidFill>
                  <a:srgbClr val="9B5360"/>
                </a:solidFill>
                <a:latin typeface="Calibri"/>
                <a:ea typeface="Calibri"/>
                <a:cs typeface="Calibri"/>
                <a:sym typeface="Calibri"/>
              </a:rPr>
              <a:t>The Problem: You Shouldn't Let Billing Hold You Back</a:t>
            </a:r>
            <a:endParaRPr/>
          </a:p>
        </p:txBody>
      </p:sp>
      <p:sp>
        <p:nvSpPr>
          <p:cNvPr id="99" name="Google Shape;99;p3"/>
          <p:cNvSpPr txBox="1"/>
          <p:nvPr/>
        </p:nvSpPr>
        <p:spPr>
          <a:xfrm>
            <a:off x="1351280" y="2933700"/>
            <a:ext cx="14894560" cy="2131417"/>
          </a:xfrm>
          <a:prstGeom prst="rect">
            <a:avLst/>
          </a:prstGeom>
          <a:noFill/>
          <a:ln>
            <a:noFill/>
          </a:ln>
        </p:spPr>
        <p:txBody>
          <a:bodyPr anchorCtr="0" anchor="t" bIns="45700" lIns="91425" spcFirstLastPara="1" rIns="91425" wrap="square" tIns="45700">
            <a:spAutoFit/>
          </a:bodyPr>
          <a:lstStyle/>
          <a:p>
            <a:pPr indent="0" lvl="0" marL="0" marR="0" rtl="0" algn="l">
              <a:lnSpc>
                <a:spcPct val="72000"/>
              </a:lnSpc>
              <a:spcBef>
                <a:spcPts val="0"/>
              </a:spcBef>
              <a:spcAft>
                <a:spcPts val="0"/>
              </a:spcAft>
              <a:buNone/>
            </a:pPr>
            <a:r>
              <a:rPr b="1" i="0" lang="en-US" sz="3600" u="none" cap="none" strike="noStrike">
                <a:solidFill>
                  <a:srgbClr val="4A4A4A"/>
                </a:solidFill>
                <a:latin typeface="Calibri"/>
                <a:ea typeface="Calibri"/>
                <a:cs typeface="Calibri"/>
                <a:sym typeface="Calibri"/>
              </a:rPr>
              <a:t>Billit differs from conventional apps in the following ways:Conventional applications:-</a:t>
            </a:r>
            <a:endParaRPr/>
          </a:p>
          <a:p>
            <a:pPr indent="0" lvl="0" marL="0" marR="0" rtl="0" algn="l">
              <a:lnSpc>
                <a:spcPct val="72000"/>
              </a:lnSpc>
              <a:spcBef>
                <a:spcPts val="0"/>
              </a:spcBef>
              <a:spcAft>
                <a:spcPts val="0"/>
              </a:spcAft>
              <a:buNone/>
            </a:pPr>
            <a:r>
              <a:t/>
            </a:r>
            <a:endParaRPr b="1" i="0" sz="3600" u="none" cap="none" strike="noStrike">
              <a:solidFill>
                <a:srgbClr val="4A4A4A"/>
              </a:solidFill>
              <a:latin typeface="Calibri"/>
              <a:ea typeface="Calibri"/>
              <a:cs typeface="Calibri"/>
              <a:sym typeface="Calibri"/>
            </a:endParaRPr>
          </a:p>
          <a:p>
            <a:pPr indent="0" lvl="0" marL="0" marR="0" rtl="0" algn="l">
              <a:lnSpc>
                <a:spcPct val="72000"/>
              </a:lnSpc>
              <a:spcBef>
                <a:spcPts val="0"/>
              </a:spcBef>
              <a:spcAft>
                <a:spcPts val="0"/>
              </a:spcAft>
              <a:buNone/>
            </a:pPr>
            <a:r>
              <a:rPr b="1" i="0" lang="en-US" sz="3600" u="none" cap="none" strike="noStrike">
                <a:solidFill>
                  <a:srgbClr val="4A4A4A"/>
                </a:solidFill>
                <a:latin typeface="Calibri"/>
                <a:ea typeface="Calibri"/>
                <a:cs typeface="Calibri"/>
                <a:sym typeface="Calibri"/>
              </a:rPr>
              <a:t>Time-consuming interface with intricate menus However,</a:t>
            </a:r>
            <a:endParaRPr/>
          </a:p>
          <a:p>
            <a:pPr indent="0" lvl="0" marL="0" marR="0" rtl="0" algn="l">
              <a:lnSpc>
                <a:spcPct val="72000"/>
              </a:lnSpc>
              <a:spcBef>
                <a:spcPts val="0"/>
              </a:spcBef>
              <a:spcAft>
                <a:spcPts val="0"/>
              </a:spcAft>
              <a:buNone/>
            </a:pPr>
            <a:r>
              <a:t/>
            </a:r>
            <a:endParaRPr b="1" i="0" sz="3600" u="none" cap="none" strike="noStrike">
              <a:solidFill>
                <a:srgbClr val="4A4A4A"/>
              </a:solidFill>
              <a:latin typeface="Calibri"/>
              <a:ea typeface="Calibri"/>
              <a:cs typeface="Calibri"/>
              <a:sym typeface="Calibri"/>
            </a:endParaRPr>
          </a:p>
          <a:p>
            <a:pPr indent="0" lvl="0" marL="0" marR="0" rtl="0" algn="l">
              <a:lnSpc>
                <a:spcPct val="72000"/>
              </a:lnSpc>
              <a:spcBef>
                <a:spcPts val="0"/>
              </a:spcBef>
              <a:spcAft>
                <a:spcPts val="0"/>
              </a:spcAft>
              <a:buNone/>
            </a:pPr>
            <a:r>
              <a:rPr b="1" i="0" lang="en-US" sz="3600" u="none" cap="none" strike="noStrike">
                <a:solidFill>
                  <a:srgbClr val="4A4A4A"/>
                </a:solidFill>
                <a:latin typeface="Calibri"/>
                <a:ea typeface="Calibri"/>
                <a:cs typeface="Calibri"/>
                <a:sym typeface="Calibri"/>
              </a:rPr>
              <a:t>Billit: User-friendly interface Menu that is simple to use</a:t>
            </a:r>
            <a:endParaRPr b="1" i="0" sz="3600" u="none" cap="none" strike="noStrike">
              <a:solidFill>
                <a:srgbClr val="4A4A4A"/>
              </a:solidFill>
              <a:latin typeface="Calibri"/>
              <a:ea typeface="Calibri"/>
              <a:cs typeface="Calibri"/>
              <a:sym typeface="Calibri"/>
            </a:endParaRPr>
          </a:p>
        </p:txBody>
      </p:sp>
    </p:spTree>
  </p:cSld>
  <p:clrMapOvr>
    <a:masterClrMapping/>
  </p:clrMapOvr>
  <p:transition spd="slow" p14:dur="1500">
    <p:split orient="ver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457200" y="274638"/>
            <a:ext cx="17145000" cy="3116262"/>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953734"/>
              </a:buClr>
              <a:buSzPts val="5400"/>
              <a:buFont typeface="Calibri"/>
              <a:buNone/>
            </a:pPr>
            <a:r>
              <a:rPr lang="en-US" sz="5400">
                <a:solidFill>
                  <a:srgbClr val="953734"/>
                </a:solidFill>
              </a:rPr>
              <a:t>THE REASON THAT MAKES BILLIT SMOOTHR AND BETTER</a:t>
            </a:r>
            <a:endParaRPr/>
          </a:p>
        </p:txBody>
      </p:sp>
      <p:pic>
        <p:nvPicPr>
          <p:cNvPr descr="A screen shot of a computer program&#10;&#10;AI-generated content may be incorrect." id="105" name="Google Shape;105;p4"/>
          <p:cNvPicPr preferRelativeResize="0"/>
          <p:nvPr/>
        </p:nvPicPr>
        <p:blipFill rotWithShape="1">
          <a:blip r:embed="rId3">
            <a:alphaModFix/>
          </a:blip>
          <a:srcRect b="0" l="0" r="0" t="0"/>
          <a:stretch/>
        </p:blipFill>
        <p:spPr>
          <a:xfrm>
            <a:off x="779877" y="5418235"/>
            <a:ext cx="7297323" cy="4385013"/>
          </a:xfrm>
          <a:prstGeom prst="rect">
            <a:avLst/>
          </a:prstGeom>
          <a:noFill/>
          <a:ln>
            <a:noFill/>
          </a:ln>
        </p:spPr>
      </p:pic>
      <p:pic>
        <p:nvPicPr>
          <p:cNvPr descr="A screen shot of a computer program&#10;&#10;AI-generated content may be incorrect." id="106" name="Google Shape;106;p4"/>
          <p:cNvPicPr preferRelativeResize="0"/>
          <p:nvPr/>
        </p:nvPicPr>
        <p:blipFill rotWithShape="1">
          <a:blip r:embed="rId3">
            <a:alphaModFix/>
          </a:blip>
          <a:srcRect b="0" l="0" r="0" t="0"/>
          <a:stretch/>
        </p:blipFill>
        <p:spPr>
          <a:xfrm>
            <a:off x="9029700" y="2680478"/>
            <a:ext cx="7394469" cy="4443388"/>
          </a:xfrm>
          <a:prstGeom prst="rect">
            <a:avLst/>
          </a:prstGeom>
          <a:noFill/>
          <a:ln>
            <a:noFill/>
          </a:ln>
        </p:spPr>
      </p:pic>
      <p:sp>
        <p:nvSpPr>
          <p:cNvPr id="107" name="Google Shape;107;p4"/>
          <p:cNvSpPr txBox="1"/>
          <p:nvPr/>
        </p:nvSpPr>
        <p:spPr>
          <a:xfrm>
            <a:off x="914400" y="2781300"/>
            <a:ext cx="70104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600" u="none" cap="none" strike="noStrike">
                <a:solidFill>
                  <a:schemeClr val="dk1"/>
                </a:solidFill>
                <a:latin typeface="Calibri"/>
                <a:ea typeface="Calibri"/>
                <a:cs typeface="Calibri"/>
                <a:sym typeface="Calibri"/>
              </a:rPr>
              <a:t>THE REASON ARE THESE CODES THAT ARE GENERATED TO MAKE THE APP RUN SMOOTH</a:t>
            </a:r>
            <a:endParaRPr/>
          </a:p>
        </p:txBody>
      </p:sp>
      <p:sp>
        <p:nvSpPr>
          <p:cNvPr id="108" name="Google Shape;108;p4"/>
          <p:cNvSpPr txBox="1"/>
          <p:nvPr/>
        </p:nvSpPr>
        <p:spPr>
          <a:xfrm>
            <a:off x="9144000" y="7429500"/>
            <a:ext cx="7280169"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THESE BASIC HANDWRITTEN CODES ARE CURATED WELL IN A WAY THAT IT PRODUCES THE OUTPUT EFFICIENTLY </a:t>
            </a:r>
            <a:endParaRPr/>
          </a:p>
        </p:txBody>
      </p:sp>
    </p:spTree>
  </p:cSld>
  <p:clrMapOvr>
    <a:masterClrMapping/>
  </p:clrMapOvr>
  <mc:AlternateContent>
    <mc:Choice Requires="p14">
      <p:transition spd="slow" p14:dur="3400">
        <p14:reveal dir="l"/>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descr="$PPTXTitle" id="113" name="Google Shape;113;p5"/>
          <p:cNvSpPr txBox="1"/>
          <p:nvPr/>
        </p:nvSpPr>
        <p:spPr>
          <a:xfrm>
            <a:off x="939800" y="1572451"/>
            <a:ext cx="15098776" cy="1641475"/>
          </a:xfrm>
          <a:prstGeom prst="rect">
            <a:avLst/>
          </a:prstGeom>
          <a:noFill/>
          <a:ln>
            <a:noFill/>
          </a:ln>
        </p:spPr>
        <p:txBody>
          <a:bodyPr anchorCtr="0" anchor="t" bIns="0" lIns="0" spcFirstLastPara="1" rIns="0" wrap="square" tIns="0">
            <a:spAutoFit/>
          </a:bodyPr>
          <a:lstStyle/>
          <a:p>
            <a:pPr indent="0" lvl="0" marL="0" marR="0" rtl="0" algn="l">
              <a:lnSpc>
                <a:spcPct val="119981"/>
              </a:lnSpc>
              <a:spcBef>
                <a:spcPts val="0"/>
              </a:spcBef>
              <a:spcAft>
                <a:spcPts val="0"/>
              </a:spcAft>
              <a:buNone/>
            </a:pPr>
            <a:r>
              <a:rPr b="1" lang="en-US" sz="5360">
                <a:solidFill>
                  <a:srgbClr val="9B5360"/>
                </a:solidFill>
                <a:latin typeface="Calibri"/>
                <a:ea typeface="Calibri"/>
                <a:cs typeface="Calibri"/>
                <a:sym typeface="Calibri"/>
              </a:rPr>
              <a:t>An Overview of Billit's Interface: Developed for Explicitness</a:t>
            </a:r>
            <a:endParaRPr/>
          </a:p>
        </p:txBody>
      </p:sp>
      <p:sp>
        <p:nvSpPr>
          <p:cNvPr id="114" name="Google Shape;114;p5"/>
          <p:cNvSpPr txBox="1"/>
          <p:nvPr/>
        </p:nvSpPr>
        <p:spPr>
          <a:xfrm>
            <a:off x="939800" y="3695700"/>
            <a:ext cx="5922264" cy="45008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2640">
                <a:solidFill>
                  <a:srgbClr val="9B5360"/>
                </a:solidFill>
                <a:latin typeface="Calibri"/>
                <a:ea typeface="Calibri"/>
                <a:cs typeface="Calibri"/>
                <a:sym typeface="Calibri"/>
              </a:rPr>
              <a:t>Simple Layout</a:t>
            </a:r>
            <a:endParaRPr/>
          </a:p>
          <a:p>
            <a:pPr indent="0" lvl="0" marL="0" marR="0" rtl="0" algn="l">
              <a:lnSpc>
                <a:spcPct val="120000"/>
              </a:lnSpc>
              <a:spcBef>
                <a:spcPts val="0"/>
              </a:spcBef>
              <a:spcAft>
                <a:spcPts val="0"/>
              </a:spcAft>
              <a:buNone/>
            </a:pPr>
            <a:r>
              <a:rPr b="1" lang="en-US" sz="2640">
                <a:solidFill>
                  <a:schemeClr val="dk1"/>
                </a:solidFill>
                <a:latin typeface="Calibri"/>
                <a:ea typeface="Calibri"/>
                <a:cs typeface="Calibri"/>
                <a:sym typeface="Calibri"/>
              </a:rPr>
              <a:t>We have simple navigation and less clutter, so you can quickly find what you need.</a:t>
            </a:r>
            <a:endParaRPr sz="2160">
              <a:solidFill>
                <a:schemeClr val="dk1"/>
              </a:solidFill>
              <a:latin typeface="Calibri"/>
              <a:ea typeface="Calibri"/>
              <a:cs typeface="Calibri"/>
              <a:sym typeface="Calibri"/>
            </a:endParaRPr>
          </a:p>
          <a:p>
            <a:pPr indent="0" lvl="0" marL="0" marR="0" rtl="0" algn="l">
              <a:lnSpc>
                <a:spcPct val="120000"/>
              </a:lnSpc>
              <a:spcBef>
                <a:spcPts val="0"/>
              </a:spcBef>
              <a:spcAft>
                <a:spcPts val="0"/>
              </a:spcAft>
              <a:buNone/>
            </a:pPr>
            <a:r>
              <a:t/>
            </a:r>
            <a:endParaRPr b="1" sz="2640">
              <a:solidFill>
                <a:srgbClr val="9B5360"/>
              </a:solidFill>
              <a:latin typeface="Calibri"/>
              <a:ea typeface="Calibri"/>
              <a:cs typeface="Calibri"/>
              <a:sym typeface="Calibri"/>
            </a:endParaRPr>
          </a:p>
          <a:p>
            <a:pPr indent="0" lvl="0" marL="0" marR="0" rtl="0" algn="l">
              <a:lnSpc>
                <a:spcPct val="120000"/>
              </a:lnSpc>
              <a:spcBef>
                <a:spcPts val="0"/>
              </a:spcBef>
              <a:spcAft>
                <a:spcPts val="0"/>
              </a:spcAft>
              <a:buNone/>
            </a:pPr>
            <a:r>
              <a:rPr b="1" lang="en-US" sz="2640">
                <a:solidFill>
                  <a:srgbClr val="9B5360"/>
                </a:solidFill>
                <a:latin typeface="Calibri"/>
                <a:ea typeface="Calibri"/>
                <a:cs typeface="Calibri"/>
                <a:sym typeface="Calibri"/>
              </a:rPr>
              <a:t>Easy Access</a:t>
            </a:r>
            <a:endParaRPr/>
          </a:p>
          <a:p>
            <a:pPr indent="0" lvl="0" marL="0" marR="0" rtl="0" algn="l">
              <a:lnSpc>
                <a:spcPct val="120000"/>
              </a:lnSpc>
              <a:spcBef>
                <a:spcPts val="0"/>
              </a:spcBef>
              <a:spcAft>
                <a:spcPts val="0"/>
              </a:spcAft>
              <a:buNone/>
            </a:pPr>
            <a:r>
              <a:rPr b="1" lang="en-US" sz="2640">
                <a:solidFill>
                  <a:schemeClr val="dk1"/>
                </a:solidFill>
                <a:latin typeface="Calibri"/>
                <a:ea typeface="Calibri"/>
                <a:cs typeface="Calibri"/>
                <a:sym typeface="Calibri"/>
              </a:rPr>
              <a:t>Utilising highly readable fonts and sizable, easily accessible buttons to enable rapid and comfortable data entry and access.</a:t>
            </a:r>
            <a:endParaRPr sz="2160">
              <a:solidFill>
                <a:schemeClr val="dk1"/>
              </a:solidFill>
              <a:latin typeface="Calibri"/>
              <a:ea typeface="Calibri"/>
              <a:cs typeface="Calibri"/>
              <a:sym typeface="Calibri"/>
            </a:endParaRPr>
          </a:p>
        </p:txBody>
      </p:sp>
      <p:sp>
        <p:nvSpPr>
          <p:cNvPr id="115" name="Google Shape;115;p5"/>
          <p:cNvSpPr txBox="1"/>
          <p:nvPr/>
        </p:nvSpPr>
        <p:spPr>
          <a:xfrm>
            <a:off x="7769696" y="3559174"/>
            <a:ext cx="9381744" cy="2188291"/>
          </a:xfrm>
          <a:prstGeom prst="rect">
            <a:avLst/>
          </a:prstGeom>
          <a:noFill/>
          <a:ln>
            <a:noFill/>
          </a:ln>
        </p:spPr>
        <p:txBody>
          <a:bodyPr anchorCtr="0" anchor="t" bIns="0" lIns="0" spcFirstLastPara="1" rIns="0" wrap="square" tIns="0">
            <a:spAutoFit/>
          </a:bodyPr>
          <a:lstStyle/>
          <a:p>
            <a:pPr indent="0" lvl="0" marL="0" marR="0" rtl="0" algn="l">
              <a:lnSpc>
                <a:spcPct val="99000"/>
              </a:lnSpc>
              <a:spcBef>
                <a:spcPts val="0"/>
              </a:spcBef>
              <a:spcAft>
                <a:spcPts val="0"/>
              </a:spcAft>
              <a:buNone/>
            </a:pPr>
            <a:r>
              <a:rPr b="1" lang="en-US" sz="3200">
                <a:solidFill>
                  <a:srgbClr val="9B5360"/>
                </a:solidFill>
                <a:latin typeface="Calibri"/>
                <a:ea typeface="Calibri"/>
                <a:cs typeface="Calibri"/>
                <a:sym typeface="Calibri"/>
              </a:rPr>
              <a:t>True Responsive Design</a:t>
            </a:r>
            <a:endParaRPr/>
          </a:p>
          <a:p>
            <a:pPr indent="0" lvl="0" marL="0" marR="0" rtl="0" algn="l">
              <a:lnSpc>
                <a:spcPct val="124321"/>
              </a:lnSpc>
              <a:spcBef>
                <a:spcPts val="0"/>
              </a:spcBef>
              <a:spcAft>
                <a:spcPts val="0"/>
              </a:spcAft>
              <a:buNone/>
            </a:pPr>
            <a:r>
              <a:rPr b="1" lang="en-US" sz="2800">
                <a:solidFill>
                  <a:schemeClr val="dk1"/>
                </a:solidFill>
                <a:latin typeface="Calibri"/>
                <a:ea typeface="Calibri"/>
                <a:cs typeface="Calibri"/>
                <a:sym typeface="Calibri"/>
              </a:rPr>
              <a:t>Billit functions seamlessly on any screen size4it works perfectly on your desktop, laptop, tablet, and mobile phone. That means you are able to manage and send your invoices and clients from wherever your work takes you, without limitation.</a:t>
            </a:r>
            <a:endParaRPr b="1" sz="2800">
              <a:solidFill>
                <a:schemeClr val="dk1"/>
              </a:solidFill>
              <a:latin typeface="Calibri"/>
              <a:ea typeface="Calibri"/>
              <a:cs typeface="Calibri"/>
              <a:sym typeface="Calibri"/>
            </a:endParaRPr>
          </a:p>
        </p:txBody>
      </p:sp>
    </p:spTree>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descr="$PPTXTitle" id="120" name="Google Shape;120;p6"/>
          <p:cNvSpPr txBox="1"/>
          <p:nvPr/>
        </p:nvSpPr>
        <p:spPr>
          <a:xfrm>
            <a:off x="939800" y="957580"/>
            <a:ext cx="15306040" cy="820738"/>
          </a:xfrm>
          <a:prstGeom prst="rect">
            <a:avLst/>
          </a:prstGeom>
          <a:noFill/>
          <a:ln>
            <a:noFill/>
          </a:ln>
        </p:spPr>
        <p:txBody>
          <a:bodyPr anchorCtr="0" anchor="t" bIns="0" lIns="0" spcFirstLastPara="1" rIns="0" wrap="square" tIns="0">
            <a:spAutoFit/>
          </a:bodyPr>
          <a:lstStyle/>
          <a:p>
            <a:pPr indent="0" lvl="0" marL="0" marR="0" rtl="0" algn="l">
              <a:lnSpc>
                <a:spcPct val="119981"/>
              </a:lnSpc>
              <a:spcBef>
                <a:spcPts val="0"/>
              </a:spcBef>
              <a:spcAft>
                <a:spcPts val="0"/>
              </a:spcAft>
              <a:buNone/>
            </a:pPr>
            <a:r>
              <a:rPr b="1" lang="en-US" sz="5360">
                <a:solidFill>
                  <a:srgbClr val="953734"/>
                </a:solidFill>
                <a:latin typeface="Calibri"/>
                <a:ea typeface="Calibri"/>
                <a:cs typeface="Calibri"/>
                <a:sym typeface="Calibri"/>
              </a:rPr>
              <a:t>Speed That Impresses: Maximising Efficiency</a:t>
            </a:r>
            <a:endParaRPr/>
          </a:p>
        </p:txBody>
      </p:sp>
      <p:sp>
        <p:nvSpPr>
          <p:cNvPr id="121" name="Google Shape;121;p6"/>
          <p:cNvSpPr txBox="1"/>
          <p:nvPr/>
        </p:nvSpPr>
        <p:spPr>
          <a:xfrm>
            <a:off x="2971800" y="5306504"/>
            <a:ext cx="4606544" cy="244900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2640">
                <a:solidFill>
                  <a:srgbClr val="953734"/>
                </a:solidFill>
                <a:latin typeface="Calibri"/>
                <a:ea typeface="Calibri"/>
                <a:cs typeface="Calibri"/>
                <a:sym typeface="Calibri"/>
              </a:rPr>
              <a:t>Immediate Invoicing</a:t>
            </a:r>
            <a:endParaRPr/>
          </a:p>
          <a:p>
            <a:pPr indent="0" lvl="0" marL="0" marR="0" rtl="0" algn="l">
              <a:lnSpc>
                <a:spcPct val="120000"/>
              </a:lnSpc>
              <a:spcBef>
                <a:spcPts val="0"/>
              </a:spcBef>
              <a:spcAft>
                <a:spcPts val="0"/>
              </a:spcAft>
              <a:buNone/>
            </a:pPr>
            <a:r>
              <a:rPr b="1" lang="en-US" sz="2640">
                <a:solidFill>
                  <a:srgbClr val="4A4A4A"/>
                </a:solidFill>
                <a:latin typeface="Calibri"/>
                <a:ea typeface="Calibri"/>
                <a:cs typeface="Calibri"/>
                <a:sym typeface="Calibri"/>
              </a:rPr>
              <a:t>Create polished, expert invoices in a matter of seconds, significantly cutting down on administrative lag time.</a:t>
            </a:r>
            <a:endParaRPr sz="2160">
              <a:solidFill>
                <a:srgbClr val="4A4A4A"/>
              </a:solidFill>
              <a:latin typeface="Calibri"/>
              <a:ea typeface="Calibri"/>
              <a:cs typeface="Calibri"/>
              <a:sym typeface="Calibri"/>
            </a:endParaRPr>
          </a:p>
        </p:txBody>
      </p:sp>
      <p:sp>
        <p:nvSpPr>
          <p:cNvPr id="122" name="Google Shape;122;p6"/>
          <p:cNvSpPr txBox="1"/>
          <p:nvPr/>
        </p:nvSpPr>
        <p:spPr>
          <a:xfrm>
            <a:off x="7595149" y="2857500"/>
            <a:ext cx="4787392" cy="244900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2640">
                <a:solidFill>
                  <a:srgbClr val="953734"/>
                </a:solidFill>
                <a:latin typeface="Calibri"/>
                <a:ea typeface="Calibri"/>
                <a:cs typeface="Calibri"/>
                <a:sym typeface="Calibri"/>
              </a:rPr>
              <a:t>Calculations in Real Time</a:t>
            </a:r>
            <a:endParaRPr/>
          </a:p>
          <a:p>
            <a:pPr indent="0" lvl="0" marL="0" marR="0" rtl="0" algn="l">
              <a:lnSpc>
                <a:spcPct val="120000"/>
              </a:lnSpc>
              <a:spcBef>
                <a:spcPts val="0"/>
              </a:spcBef>
              <a:spcAft>
                <a:spcPts val="0"/>
              </a:spcAft>
              <a:buNone/>
            </a:pPr>
            <a:r>
              <a:rPr b="1" lang="en-US" sz="2640">
                <a:solidFill>
                  <a:srgbClr val="4A4A4A"/>
                </a:solidFill>
                <a:latin typeface="Calibri"/>
                <a:ea typeface="Calibri"/>
                <a:cs typeface="Calibri"/>
                <a:sym typeface="Calibri"/>
              </a:rPr>
              <a:t>As you type, discounts and taxes are automatically calculated, removing human error and guaranteeing accuracy.</a:t>
            </a:r>
            <a:endParaRPr sz="2160">
              <a:solidFill>
                <a:srgbClr val="4A4A4A"/>
              </a:solidFill>
              <a:latin typeface="Calibri"/>
              <a:ea typeface="Calibri"/>
              <a:cs typeface="Calibri"/>
              <a:sym typeface="Calibri"/>
            </a:endParaRPr>
          </a:p>
        </p:txBody>
      </p:sp>
      <p:sp>
        <p:nvSpPr>
          <p:cNvPr id="123" name="Google Shape;123;p6"/>
          <p:cNvSpPr txBox="1"/>
          <p:nvPr/>
        </p:nvSpPr>
        <p:spPr>
          <a:xfrm>
            <a:off x="12399347" y="5982334"/>
            <a:ext cx="4789424" cy="2449004"/>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2640">
                <a:solidFill>
                  <a:srgbClr val="953734"/>
                </a:solidFill>
                <a:latin typeface="Calibri"/>
                <a:ea typeface="Calibri"/>
                <a:cs typeface="Calibri"/>
                <a:sym typeface="Calibri"/>
              </a:rPr>
              <a:t>A Fast Search</a:t>
            </a:r>
            <a:endParaRPr/>
          </a:p>
          <a:p>
            <a:pPr indent="0" lvl="0" marL="0" marR="0" rtl="0" algn="l">
              <a:lnSpc>
                <a:spcPct val="120000"/>
              </a:lnSpc>
              <a:spcBef>
                <a:spcPts val="0"/>
              </a:spcBef>
              <a:spcAft>
                <a:spcPts val="0"/>
              </a:spcAft>
              <a:buNone/>
            </a:pPr>
            <a:r>
              <a:rPr b="1" lang="en-US" sz="2640">
                <a:solidFill>
                  <a:srgbClr val="4A4A4A"/>
                </a:solidFill>
                <a:latin typeface="Calibri"/>
                <a:ea typeface="Calibri"/>
                <a:cs typeface="Calibri"/>
                <a:sym typeface="Calibri"/>
              </a:rPr>
              <a:t>Instant access to contact information, previous invoices, and client history enables quick decision-making.</a:t>
            </a:r>
            <a:endParaRPr sz="2160">
              <a:solidFill>
                <a:srgbClr val="4A4A4A"/>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descr="$PPTXTitle" id="128" name="Google Shape;128;p7"/>
          <p:cNvSpPr txBox="1"/>
          <p:nvPr/>
        </p:nvSpPr>
        <p:spPr>
          <a:xfrm>
            <a:off x="1037821" y="1754995"/>
            <a:ext cx="14798040" cy="1641475"/>
          </a:xfrm>
          <a:prstGeom prst="rect">
            <a:avLst/>
          </a:prstGeom>
          <a:noFill/>
          <a:ln>
            <a:noFill/>
          </a:ln>
        </p:spPr>
        <p:txBody>
          <a:bodyPr anchorCtr="0" anchor="t" bIns="0" lIns="0" spcFirstLastPara="1" rIns="0" wrap="square" tIns="0">
            <a:spAutoFit/>
          </a:bodyPr>
          <a:lstStyle/>
          <a:p>
            <a:pPr indent="0" lvl="0" marL="0" marR="0" rtl="0" algn="l">
              <a:lnSpc>
                <a:spcPct val="119981"/>
              </a:lnSpc>
              <a:spcBef>
                <a:spcPts val="0"/>
              </a:spcBef>
              <a:spcAft>
                <a:spcPts val="0"/>
              </a:spcAft>
              <a:buNone/>
            </a:pPr>
            <a:r>
              <a:rPr b="1" lang="en-US" sz="5360">
                <a:solidFill>
                  <a:srgbClr val="9B5360"/>
                </a:solidFill>
                <a:latin typeface="Calibri"/>
                <a:ea typeface="Calibri"/>
                <a:cs typeface="Calibri"/>
                <a:sym typeface="Calibri"/>
              </a:rPr>
              <a:t>Behind the Scenes: Using the Power of Python</a:t>
            </a:r>
            <a:endParaRPr/>
          </a:p>
        </p:txBody>
      </p:sp>
      <p:sp>
        <p:nvSpPr>
          <p:cNvPr id="129" name="Google Shape;129;p7"/>
          <p:cNvSpPr txBox="1"/>
          <p:nvPr/>
        </p:nvSpPr>
        <p:spPr>
          <a:xfrm>
            <a:off x="1127760" y="4808854"/>
            <a:ext cx="6339840" cy="2432717"/>
          </a:xfrm>
          <a:prstGeom prst="rect">
            <a:avLst/>
          </a:prstGeom>
          <a:noFill/>
          <a:ln>
            <a:noFill/>
          </a:ln>
        </p:spPr>
        <p:txBody>
          <a:bodyPr anchorCtr="0" anchor="t" bIns="0" lIns="0" spcFirstLastPara="1" rIns="0" wrap="square" tIns="0">
            <a:spAutoFit/>
          </a:bodyPr>
          <a:lstStyle/>
          <a:p>
            <a:pPr indent="0" lvl="0" marL="0" marR="0" rtl="0" algn="l">
              <a:lnSpc>
                <a:spcPct val="88000"/>
              </a:lnSpc>
              <a:spcBef>
                <a:spcPts val="0"/>
              </a:spcBef>
              <a:spcAft>
                <a:spcPts val="0"/>
              </a:spcAft>
              <a:buNone/>
            </a:pPr>
            <a:r>
              <a:rPr b="1" lang="en-US" sz="3600">
                <a:solidFill>
                  <a:srgbClr val="953734"/>
                </a:solidFill>
                <a:latin typeface="Calibri"/>
                <a:ea typeface="Calibri"/>
                <a:cs typeface="Calibri"/>
                <a:sym typeface="Calibri"/>
              </a:rPr>
              <a:t>Effective Codebase</a:t>
            </a:r>
            <a:endParaRPr/>
          </a:p>
          <a:p>
            <a:pPr indent="0" lvl="0" marL="0" marR="0" rtl="0" algn="l">
              <a:lnSpc>
                <a:spcPct val="113142"/>
              </a:lnSpc>
              <a:spcBef>
                <a:spcPts val="0"/>
              </a:spcBef>
              <a:spcAft>
                <a:spcPts val="0"/>
              </a:spcAft>
              <a:buNone/>
            </a:pPr>
            <a:r>
              <a:rPr lang="en-US" sz="2800">
                <a:solidFill>
                  <a:schemeClr val="dk1"/>
                </a:solidFill>
                <a:latin typeface="Calibri"/>
                <a:ea typeface="Calibri"/>
                <a:cs typeface="Calibri"/>
                <a:sym typeface="Calibri"/>
              </a:rPr>
              <a:t> With easy syntax and efficient structure, Python provides smooth and low latency performance to support heavy usage demands. </a:t>
            </a:r>
            <a:br>
              <a:rPr lang="en-US" sz="2800">
                <a:solidFill>
                  <a:schemeClr val="dk1"/>
                </a:solidFill>
                <a:latin typeface="Calibri"/>
                <a:ea typeface="Calibri"/>
                <a:cs typeface="Calibri"/>
                <a:sym typeface="Calibri"/>
              </a:rPr>
            </a:br>
            <a:endParaRPr sz="2160">
              <a:solidFill>
                <a:srgbClr val="4A4A4A"/>
              </a:solidFill>
              <a:latin typeface="Calibri"/>
              <a:ea typeface="Calibri"/>
              <a:cs typeface="Calibri"/>
              <a:sym typeface="Calibri"/>
            </a:endParaRPr>
          </a:p>
        </p:txBody>
      </p:sp>
      <p:sp>
        <p:nvSpPr>
          <p:cNvPr id="130" name="Google Shape;130;p7"/>
          <p:cNvSpPr txBox="1"/>
          <p:nvPr/>
        </p:nvSpPr>
        <p:spPr>
          <a:xfrm>
            <a:off x="10363200" y="4533900"/>
            <a:ext cx="6797040" cy="1704184"/>
          </a:xfrm>
          <a:prstGeom prst="rect">
            <a:avLst/>
          </a:prstGeom>
          <a:noFill/>
          <a:ln>
            <a:noFill/>
          </a:ln>
        </p:spPr>
        <p:txBody>
          <a:bodyPr anchorCtr="0" anchor="t" bIns="0" lIns="0" spcFirstLastPara="1" rIns="0" wrap="square" tIns="0">
            <a:spAutoFit/>
          </a:bodyPr>
          <a:lstStyle/>
          <a:p>
            <a:pPr indent="0" lvl="0" marL="0" marR="0" rtl="0" algn="l">
              <a:lnSpc>
                <a:spcPct val="88000"/>
              </a:lnSpc>
              <a:spcBef>
                <a:spcPts val="0"/>
              </a:spcBef>
              <a:spcAft>
                <a:spcPts val="0"/>
              </a:spcAft>
              <a:buNone/>
            </a:pPr>
            <a:r>
              <a:rPr b="1" lang="en-US" sz="3600">
                <a:solidFill>
                  <a:srgbClr val="953734"/>
                </a:solidFill>
                <a:latin typeface="Calibri"/>
                <a:ea typeface="Calibri"/>
                <a:cs typeface="Calibri"/>
                <a:sym typeface="Calibri"/>
              </a:rPr>
              <a:t>Robust Error Handling</a:t>
            </a:r>
            <a:endParaRPr/>
          </a:p>
          <a:p>
            <a:pPr indent="0" lvl="0" marL="0" marR="0" rtl="0" algn="l">
              <a:lnSpc>
                <a:spcPct val="122071"/>
              </a:lnSpc>
              <a:spcBef>
                <a:spcPts val="0"/>
              </a:spcBef>
              <a:spcAft>
                <a:spcPts val="0"/>
              </a:spcAft>
              <a:buNone/>
            </a:pPr>
            <a:r>
              <a:rPr lang="en-US" sz="2800">
                <a:solidFill>
                  <a:srgbClr val="4A4A4A"/>
                </a:solidFill>
                <a:latin typeface="Calibri"/>
                <a:ea typeface="Calibri"/>
                <a:cs typeface="Calibri"/>
                <a:sym typeface="Calibri"/>
              </a:rPr>
              <a:t>Advanced mechanisms are in place to anticipate and prevent crashes, providing a truly reliable user experience.</a:t>
            </a:r>
            <a:endParaRPr/>
          </a:p>
        </p:txBody>
      </p:sp>
    </p:spTree>
  </p:cSld>
  <p:clrMapOvr>
    <a:masterClrMapping/>
  </p:clrMapOvr>
  <p:transition spd="slow" p14:dur="1500">
    <p:split orient="ver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descr="$PPTXTitle" id="135" name="Google Shape;135;p8"/>
          <p:cNvSpPr txBox="1"/>
          <p:nvPr/>
        </p:nvSpPr>
        <p:spPr>
          <a:xfrm>
            <a:off x="939800" y="2609215"/>
            <a:ext cx="7284720" cy="962025"/>
          </a:xfrm>
          <a:prstGeom prst="rect">
            <a:avLst/>
          </a:prstGeom>
          <a:noFill/>
          <a:ln>
            <a:noFill/>
          </a:ln>
        </p:spPr>
        <p:txBody>
          <a:bodyPr anchorCtr="0" anchor="t" bIns="0" lIns="0" spcFirstLastPara="1" rIns="0" wrap="square" tIns="0">
            <a:spAutoFit/>
          </a:bodyPr>
          <a:lstStyle/>
          <a:p>
            <a:pPr indent="0" lvl="0" marL="0" marR="0" rtl="0" algn="l">
              <a:lnSpc>
                <a:spcPct val="119981"/>
              </a:lnSpc>
              <a:spcBef>
                <a:spcPts val="0"/>
              </a:spcBef>
              <a:spcAft>
                <a:spcPts val="0"/>
              </a:spcAft>
              <a:buNone/>
            </a:pPr>
            <a:r>
              <a:rPr b="1" lang="en-US" sz="5360">
                <a:solidFill>
                  <a:srgbClr val="9B5360"/>
                </a:solidFill>
                <a:latin typeface="Calibri"/>
                <a:ea typeface="Calibri"/>
                <a:cs typeface="Calibri"/>
                <a:sym typeface="Calibri"/>
              </a:rPr>
              <a:t>Ready to Bill Smarter?</a:t>
            </a:r>
            <a:endParaRPr/>
          </a:p>
        </p:txBody>
      </p:sp>
      <p:sp>
        <p:nvSpPr>
          <p:cNvPr id="136" name="Google Shape;136;p8"/>
          <p:cNvSpPr txBox="1"/>
          <p:nvPr/>
        </p:nvSpPr>
        <p:spPr>
          <a:xfrm>
            <a:off x="939800" y="4399979"/>
            <a:ext cx="8382000" cy="132511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7440">
                <a:solidFill>
                  <a:srgbClr val="9B5360"/>
                </a:solidFill>
                <a:latin typeface="Calibri"/>
                <a:ea typeface="Calibri"/>
                <a:cs typeface="Calibri"/>
                <a:sym typeface="Calibri"/>
              </a:rPr>
              <a:t>Billit makes billing:</a:t>
            </a:r>
            <a:endParaRPr/>
          </a:p>
        </p:txBody>
      </p:sp>
      <p:sp>
        <p:nvSpPr>
          <p:cNvPr id="137" name="Google Shape;137;p8"/>
          <p:cNvSpPr txBox="1"/>
          <p:nvPr/>
        </p:nvSpPr>
        <p:spPr>
          <a:xfrm>
            <a:off x="939800" y="6355080"/>
            <a:ext cx="15016480" cy="1345112"/>
          </a:xfrm>
          <a:prstGeom prst="rect">
            <a:avLst/>
          </a:prstGeom>
          <a:noFill/>
          <a:ln>
            <a:noFill/>
          </a:ln>
        </p:spPr>
        <p:txBody>
          <a:bodyPr anchorCtr="0" anchor="t" bIns="0" lIns="0" spcFirstLastPara="1" rIns="0" wrap="square" tIns="0">
            <a:spAutoFit/>
          </a:bodyPr>
          <a:lstStyle/>
          <a:p>
            <a:pPr indent="0" lvl="0" marL="0" marR="0" rtl="0" algn="l">
              <a:lnSpc>
                <a:spcPct val="92571"/>
              </a:lnSpc>
              <a:spcBef>
                <a:spcPts val="0"/>
              </a:spcBef>
              <a:spcAft>
                <a:spcPts val="0"/>
              </a:spcAft>
              <a:buNone/>
            </a:pPr>
            <a:r>
              <a:rPr b="1" lang="en-US" sz="2800">
                <a:solidFill>
                  <a:srgbClr val="4A4A4A"/>
                </a:solidFill>
                <a:latin typeface="Calibri"/>
                <a:ea typeface="Calibri"/>
                <a:cs typeface="Calibri"/>
                <a:sym typeface="Calibri"/>
              </a:rPr>
              <a:t>Billit is fast, simple and easy to use</a:t>
            </a:r>
            <a:endParaRPr/>
          </a:p>
          <a:p>
            <a:pPr indent="0" lvl="0" marL="0" marR="0" rtl="0" algn="l">
              <a:lnSpc>
                <a:spcPct val="92571"/>
              </a:lnSpc>
              <a:spcBef>
                <a:spcPts val="0"/>
              </a:spcBef>
              <a:spcAft>
                <a:spcPts val="0"/>
              </a:spcAft>
              <a:buNone/>
            </a:pPr>
            <a:r>
              <a:t/>
            </a:r>
            <a:endParaRPr sz="2800">
              <a:solidFill>
                <a:srgbClr val="4A4A4A"/>
              </a:solidFill>
              <a:latin typeface="Calibri"/>
              <a:ea typeface="Calibri"/>
              <a:cs typeface="Calibri"/>
              <a:sym typeface="Calibri"/>
            </a:endParaRPr>
          </a:p>
          <a:p>
            <a:pPr indent="0" lvl="0" marL="0" marR="0" rtl="0" algn="l">
              <a:lnSpc>
                <a:spcPct val="92571"/>
              </a:lnSpc>
              <a:spcBef>
                <a:spcPts val="0"/>
              </a:spcBef>
              <a:spcAft>
                <a:spcPts val="0"/>
              </a:spcAft>
              <a:buNone/>
            </a:pPr>
            <a:r>
              <a:rPr b="1" lang="en-US" sz="2800">
                <a:solidFill>
                  <a:srgbClr val="4A4A4A"/>
                </a:solidFill>
                <a:latin typeface="Calibri"/>
                <a:ea typeface="Calibri"/>
                <a:cs typeface="Calibri"/>
                <a:sym typeface="Calibri"/>
              </a:rPr>
              <a:t>Try Billit today and take control of your invoicing process. Experience the future of simple, swift financial management</a:t>
            </a:r>
            <a:endParaRPr/>
          </a:p>
        </p:txBody>
      </p:sp>
    </p:spTree>
  </p:cSld>
  <p:clrMapOvr>
    <a:masterClrMapping/>
  </p:clrMapOvr>
  <mc:AlternateContent>
    <mc:Choice Requires="p14">
      <p:transition spd="slow" p14:dur="3400">
        <p14:reveal dir="l"/>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nvSpPr>
        <p:spPr>
          <a:xfrm>
            <a:off x="6553200" y="4543335"/>
            <a:ext cx="10668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200">
                <a:solidFill>
                  <a:srgbClr val="953734"/>
                </a:solidFill>
                <a:latin typeface="Calibri"/>
                <a:ea typeface="Calibri"/>
                <a:cs typeface="Calibri"/>
                <a:sym typeface="Calibri"/>
              </a:rPr>
              <a:t>THANKYOU</a:t>
            </a:r>
            <a:endParaRPr/>
          </a:p>
        </p:txBody>
      </p:sp>
      <p:sp>
        <p:nvSpPr>
          <p:cNvPr id="143" name="Google Shape;143;p9"/>
          <p:cNvSpPr txBox="1"/>
          <p:nvPr/>
        </p:nvSpPr>
        <p:spPr>
          <a:xfrm>
            <a:off x="14984000" y="7743925"/>
            <a:ext cx="99327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by:-</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Vinayak Goyal</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Parth Arora</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Vasva Kumar</a:t>
            </a:r>
            <a:endParaRPr sz="3200">
              <a:solidFill>
                <a:schemeClr val="dk1"/>
              </a:solidFill>
              <a:latin typeface="Calibri"/>
              <a:ea typeface="Calibri"/>
              <a:cs typeface="Calibri"/>
              <a:sym typeface="Calibri"/>
            </a:endParaRPr>
          </a:p>
        </p:txBody>
      </p:sp>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